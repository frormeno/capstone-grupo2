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gJ3dVJJadvQd3TFhF+iR0lKKSw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C68393-4673-4EA1-996D-A83A5A3FC531}">
  <a:tblStyle styleId="{ECC68393-4673-4EA1-996D-A83A5A3FC53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9be15f4c8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9be15f4c8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f9be15f4c8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414be9977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f414be9977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f414be9977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414be9977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f414be9977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f414be9977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414be9977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f414be9977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f414be9977_0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914400" y="1371600"/>
            <a:ext cx="10362900" cy="15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SIGIOP-MOP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Sistema de Gestión de Información Operacional</a:t>
            </a:r>
            <a:br>
              <a:rPr b="0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Dirección de Vialidad - Ministerio de Obras Públicas</a:t>
            </a:r>
            <a:endParaRPr b="1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5279698" y="5520300"/>
            <a:ext cx="6912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INTEGRANTES: Hugo Rubilar | Jaime Maureira | Mario Demartini | Francisco Ormeño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CARRERA: Ingeniería en Informática  |  SEDE: Viña del Mar  |  Duoc UC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DOCENTE: Jorge Gómez  |  ASIGNATURA: Capstone (Fase 1: Definición de Proyecto)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File:Logo DuocUC.svg - Wikipedia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61987" y="68014"/>
            <a:ext cx="2619836" cy="644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325" y="189731"/>
            <a:ext cx="1698200" cy="148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457200" y="320040"/>
            <a:ext cx="91440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Descripción Proyecto APT</a:t>
            </a:r>
            <a:endParaRPr b="1" sz="28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02F6C"/>
              </a:solidFill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457200" y="1051560"/>
            <a:ext cx="11277295" cy="19050"/>
          </a:xfrm>
          <a:prstGeom prst="rect">
            <a:avLst/>
          </a:prstGeom>
          <a:solidFill>
            <a:srgbClr val="0073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335350" y="1645920"/>
            <a:ext cx="4846200" cy="411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ÁREAS DE DESEMPEÑO TI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Desarrollo e Integración: </a:t>
            </a:r>
            <a:r>
              <a:rPr lang="en-US" sz="1300">
                <a:solidFill>
                  <a:srgbClr val="1E293B"/>
                </a:solidFill>
              </a:rPr>
              <a:t>Aplicaciones móviles en terreno y web de oficina.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Gestión de Datos: </a:t>
            </a:r>
            <a:r>
              <a:rPr lang="en-US" sz="1300">
                <a:solidFill>
                  <a:srgbClr val="1E293B"/>
                </a:solidFill>
              </a:rPr>
              <a:t>Modelamiento relacional robusto con PostgreSQL.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Servicios Cloud y GPS: </a:t>
            </a:r>
            <a:r>
              <a:rPr lang="en-US" sz="1300">
                <a:solidFill>
                  <a:srgbClr val="1E293B"/>
                </a:solidFill>
              </a:rPr>
              <a:t>Geolocalización e integración de mapas dinámicos.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Seguridad Informática: </a:t>
            </a:r>
            <a:r>
              <a:rPr lang="en-US" sz="1300">
                <a:solidFill>
                  <a:srgbClr val="1E293B"/>
                </a:solidFill>
              </a:rPr>
              <a:t>Controles de acceso basados en roles (RBAC) y HTTPS.</a:t>
            </a:r>
            <a:endParaRPr sz="1300">
              <a:solidFill>
                <a:srgbClr val="1E293B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A202C"/>
              </a:solidFill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6888175" y="1645920"/>
            <a:ext cx="4846200" cy="411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2"/>
                </a:solidFill>
              </a:rPr>
              <a:t>COMPETENCIAS DE EGRESO APLICADAS</a:t>
            </a:r>
            <a:endParaRPr b="1" sz="1600">
              <a:solidFill>
                <a:schemeClr val="dk2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Especificación Técnica: </a:t>
            </a:r>
            <a:r>
              <a:rPr lang="en-US" sz="1300">
                <a:solidFill>
                  <a:srgbClr val="1E293B"/>
                </a:solidFill>
              </a:rPr>
              <a:t>Levantamiento riguroso de requerimientos con el MOP.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Diseño de Arquitectura: </a:t>
            </a:r>
            <a:r>
              <a:rPr lang="en-US" sz="1300">
                <a:solidFill>
                  <a:srgbClr val="1E293B"/>
                </a:solidFill>
              </a:rPr>
              <a:t>Diseño de base de datos relacional y servicios seguros.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Aseguramiento de Calidad: </a:t>
            </a:r>
            <a:r>
              <a:rPr lang="en-US" sz="1300">
                <a:solidFill>
                  <a:srgbClr val="1E293B"/>
                </a:solidFill>
              </a:rPr>
              <a:t>Planificación y ejecución de pruebas de calidad de software.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Gestión y Trabajo Ágil: </a:t>
            </a:r>
            <a:r>
              <a:rPr lang="en-US" sz="1300">
                <a:solidFill>
                  <a:srgbClr val="1E293B"/>
                </a:solidFill>
              </a:rPr>
              <a:t>Colaboración basada en Kanban y control de versiones con Git.</a:t>
            </a:r>
            <a:endParaRPr sz="1300">
              <a:solidFill>
                <a:srgbClr val="1E293B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A202C"/>
              </a:solidFill>
            </a:endParaRPr>
          </a:p>
        </p:txBody>
      </p:sp>
      <p:pic>
        <p:nvPicPr>
          <p:cNvPr descr="File:Logo DuocUC.svg - Wikipedia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4197" y="230374"/>
            <a:ext cx="1852580" cy="455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1562" y="2767450"/>
            <a:ext cx="1706625" cy="170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457200" y="320040"/>
            <a:ext cx="914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Fundamentación Proyecto APT: Relevancia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457200" y="1051560"/>
            <a:ext cx="11277295" cy="19050"/>
          </a:xfrm>
          <a:prstGeom prst="rect">
            <a:avLst/>
          </a:prstGeom>
          <a:solidFill>
            <a:srgbClr val="0073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914400" y="1645924"/>
            <a:ext cx="4846200" cy="370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2"/>
                </a:solidFill>
              </a:rPr>
              <a:t>PROBLEMAS ACTUALES EN EL MOP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2"/>
                </a:solidFill>
              </a:rPr>
              <a:t>•</a:t>
            </a:r>
            <a:r>
              <a:rPr b="1" lang="en-US">
                <a:solidFill>
                  <a:schemeClr val="dk2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Gestión Manual: </a:t>
            </a:r>
            <a:r>
              <a:rPr lang="en-US" sz="1300">
                <a:solidFill>
                  <a:schemeClr val="dk1"/>
                </a:solidFill>
              </a:rPr>
              <a:t>Uso intensivo de formularios en papel y planillas de cálculo dispersas.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2"/>
                </a:solidFill>
              </a:rPr>
              <a:t>• </a:t>
            </a:r>
            <a:r>
              <a:rPr b="1" lang="en-US">
                <a:solidFill>
                  <a:schemeClr val="dk1"/>
                </a:solidFill>
              </a:rPr>
              <a:t>Nula Trazabilidad: </a:t>
            </a:r>
            <a:r>
              <a:rPr lang="en-US" sz="1300">
                <a:solidFill>
                  <a:schemeClr val="dk1"/>
                </a:solidFill>
              </a:rPr>
              <a:t>Dificultad para mantener una hoja de vida histórica de los inmuebles.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2"/>
                </a:solidFill>
              </a:rPr>
              <a:t>• </a:t>
            </a:r>
            <a:r>
              <a:rPr b="1" lang="en-US">
                <a:solidFill>
                  <a:schemeClr val="dk1"/>
                </a:solidFill>
              </a:rPr>
              <a:t>Duplicidad de Esfuerzos: </a:t>
            </a:r>
            <a:r>
              <a:rPr lang="en-US" sz="1300">
                <a:solidFill>
                  <a:schemeClr val="dk1"/>
                </a:solidFill>
              </a:rPr>
              <a:t>La información se captura en papel y luego se digita nuevamente en oficina.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2"/>
                </a:solidFill>
              </a:rPr>
              <a:t>• </a:t>
            </a:r>
            <a:r>
              <a:rPr b="1" lang="en-US">
                <a:solidFill>
                  <a:schemeClr val="dk1"/>
                </a:solidFill>
              </a:rPr>
              <a:t>Acceso Complejo: </a:t>
            </a:r>
            <a:r>
              <a:rPr lang="en-US" sz="1300">
                <a:solidFill>
                  <a:schemeClr val="dk1"/>
                </a:solidFill>
              </a:rPr>
              <a:t>Demoras severas para consolidar datos territoriales y generar reportes nacionales.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400800" y="1645925"/>
            <a:ext cx="4846200" cy="236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2F6C"/>
                </a:solidFill>
                <a:latin typeface="Arial"/>
                <a:ea typeface="Arial"/>
                <a:cs typeface="Arial"/>
                <a:sym typeface="Arial"/>
              </a:rPr>
              <a:t>APORTE DE VALOR ESPERADO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2"/>
                </a:solidFill>
              </a:rPr>
              <a:t>• </a:t>
            </a:r>
            <a:r>
              <a:rPr lang="en-US" sz="1300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 Digitalización inmediata desde dispositivos móviles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2"/>
                </a:solidFill>
              </a:rPr>
              <a:t>• </a:t>
            </a:r>
            <a:r>
              <a:rPr lang="en-US" sz="1300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 Centralización de registros en una base de datos única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2"/>
                </a:solidFill>
              </a:rPr>
              <a:t>• </a:t>
            </a:r>
            <a:r>
              <a:rPr lang="en-US" sz="1300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 Disponibilidad de información oportuna en tiempo real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2"/>
                </a:solidFill>
              </a:rPr>
              <a:t>• </a:t>
            </a:r>
            <a:r>
              <a:rPr lang="en-US" sz="1300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 Visor georreferenciado para rápida toma de decisiones</a:t>
            </a:r>
            <a:endParaRPr/>
          </a:p>
        </p:txBody>
      </p:sp>
      <p:pic>
        <p:nvPicPr>
          <p:cNvPr descr="File:Logo DuocUC.svg - Wikipedia" id="113" name="Google Shape;1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4197" y="230374"/>
            <a:ext cx="1852580" cy="455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6475" y="4179225"/>
            <a:ext cx="4814850" cy="254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/>
          <p:nvPr/>
        </p:nvSpPr>
        <p:spPr>
          <a:xfrm>
            <a:off x="8507250" y="5347925"/>
            <a:ext cx="633300" cy="455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/>
        </p:nvSpPr>
        <p:spPr>
          <a:xfrm>
            <a:off x="457200" y="162500"/>
            <a:ext cx="93372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2147"/>
                </a:solidFill>
                <a:latin typeface="Georgia"/>
                <a:ea typeface="Georgia"/>
                <a:cs typeface="Georgia"/>
                <a:sym typeface="Georgia"/>
              </a:rPr>
              <a:t>Fundamentación Proyecto APT: Descripción del Proyecto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57200" y="1051560"/>
            <a:ext cx="11277295" cy="19050"/>
          </a:xfrm>
          <a:prstGeom prst="rect">
            <a:avLst/>
          </a:prstGeom>
          <a:solidFill>
            <a:srgbClr val="0073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792300" y="1356425"/>
            <a:ext cx="3291900" cy="3430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002147"/>
                </a:solidFill>
              </a:rPr>
              <a:t>APP MÓVIL (TERRENO)</a:t>
            </a:r>
            <a:endParaRPr b="1" sz="1500">
              <a:solidFill>
                <a:srgbClr val="00214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300">
                <a:solidFill>
                  <a:srgbClr val="1E293B"/>
                </a:solidFill>
              </a:rPr>
              <a:t>Captura offline de fichas ECI.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300">
                <a:solidFill>
                  <a:srgbClr val="1E293B"/>
                </a:solidFill>
              </a:rPr>
              <a:t>Almacenamiento local SQLite seguro.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300">
                <a:solidFill>
                  <a:srgbClr val="1E293B"/>
                </a:solidFill>
              </a:rPr>
              <a:t>Fotografías georreferenciadas por GPS.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300">
                <a:solidFill>
                  <a:srgbClr val="1E293B"/>
                </a:solidFill>
              </a:rPr>
              <a:t>Sincronización robusta al detectar red.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300">
                <a:solidFill>
                  <a:srgbClr val="1E293B"/>
                </a:solidFill>
              </a:rPr>
              <a:t>Fácil usabilidad para el inspector.</a:t>
            </a:r>
            <a:endParaRPr sz="1300">
              <a:solidFill>
                <a:srgbClr val="1E293B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449900" y="1356424"/>
            <a:ext cx="3291900" cy="3430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500">
              <a:solidFill>
                <a:srgbClr val="00214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002147"/>
                </a:solidFill>
              </a:rPr>
              <a:t>PLATAFORMA WEB (OFICINA)</a:t>
            </a:r>
            <a:endParaRPr b="1" sz="1500">
              <a:solidFill>
                <a:srgbClr val="00214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300">
                <a:solidFill>
                  <a:srgbClr val="1E293B"/>
                </a:solidFill>
              </a:rPr>
              <a:t>Administración global de usuarios/roles.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300">
                <a:solidFill>
                  <a:srgbClr val="1E293B"/>
                </a:solidFill>
              </a:rPr>
              <a:t>Visor georreferenciado nacional interactivo.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300">
                <a:solidFill>
                  <a:srgbClr val="1E293B"/>
                </a:solidFill>
              </a:rPr>
              <a:t>Búsqueda por filtros territoriales.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300">
                <a:solidFill>
                  <a:srgbClr val="1E293B"/>
                </a:solidFill>
              </a:rPr>
              <a:t>Ficha clínica e historial de inmuebles.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300">
                <a:solidFill>
                  <a:srgbClr val="1E293B"/>
                </a:solidFill>
              </a:rPr>
              <a:t>Generación y exportación de reportes.</a:t>
            </a:r>
            <a:endParaRPr sz="1300">
              <a:solidFill>
                <a:srgbClr val="1E293B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8107500" y="1356424"/>
            <a:ext cx="3291900" cy="3430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500">
              <a:solidFill>
                <a:srgbClr val="00214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002147"/>
                </a:solidFill>
              </a:rPr>
              <a:t>BACKEND Y NÚCLEO TÉCNICO</a:t>
            </a:r>
            <a:endParaRPr b="1" sz="1500">
              <a:solidFill>
                <a:srgbClr val="00214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300">
                <a:solidFill>
                  <a:srgbClr val="1E293B"/>
                </a:solidFill>
              </a:rPr>
              <a:t>API Rest robusta basada en NestJS.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300">
                <a:solidFill>
                  <a:srgbClr val="1E293B"/>
                </a:solidFill>
              </a:rPr>
              <a:t>Cálculo automatizado del ICI oficial.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300">
                <a:solidFill>
                  <a:srgbClr val="1E293B"/>
                </a:solidFill>
              </a:rPr>
              <a:t>Servicios de autenticación y RBAC.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300">
                <a:solidFill>
                  <a:srgbClr val="1E293B"/>
                </a:solidFill>
              </a:rPr>
              <a:t>Almacenamiento de evidencias en S3.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300">
                <a:solidFill>
                  <a:srgbClr val="1E293B"/>
                </a:solidFill>
              </a:rPr>
              <a:t>Modelo relacional Supabase/PostgreSQL.</a:t>
            </a:r>
            <a:endParaRPr sz="1300">
              <a:solidFill>
                <a:srgbClr val="1E293B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</p:txBody>
      </p:sp>
      <p:pic>
        <p:nvPicPr>
          <p:cNvPr descr="File:Logo DuocUC.svg - Wikipedia" id="126" name="Google Shape;1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4197" y="230374"/>
            <a:ext cx="1852580" cy="455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5113" y="4903124"/>
            <a:ext cx="1766275" cy="176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4650" y="4808825"/>
            <a:ext cx="2482394" cy="195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70300" y="4903124"/>
            <a:ext cx="1766276" cy="176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/>
        </p:nvSpPr>
        <p:spPr>
          <a:xfrm>
            <a:off x="457200" y="320040"/>
            <a:ext cx="91440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2147"/>
                </a:solidFill>
                <a:latin typeface="Georgia"/>
                <a:ea typeface="Georgia"/>
                <a:cs typeface="Georgia"/>
                <a:sym typeface="Georgia"/>
              </a:rPr>
              <a:t>Fundamentación Proyecto APT: Priorización de Épicas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457350" y="1156348"/>
            <a:ext cx="11277300" cy="19200"/>
          </a:xfrm>
          <a:prstGeom prst="rect">
            <a:avLst/>
          </a:prstGeom>
          <a:solidFill>
            <a:srgbClr val="0073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:Logo DuocUC.svg - Wikipedia" id="137" name="Google Shape;1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4197" y="230374"/>
            <a:ext cx="1852580" cy="45542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731525" y="1645925"/>
            <a:ext cx="3291900" cy="38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200">
              <a:solidFill>
                <a:srgbClr val="0066C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200">
              <a:solidFill>
                <a:srgbClr val="0066C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200">
              <a:solidFill>
                <a:srgbClr val="0066C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2"/>
                </a:solidFill>
              </a:rPr>
              <a:t>MUST HAVE — NÚCLEO (EP-01 a EP-08)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E293B"/>
                </a:solidFill>
              </a:rPr>
              <a:t>EP-01: Identidad, Autenticación y RBAC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E293B"/>
                </a:solidFill>
              </a:rPr>
              <a:t>EP-02: Gestión territorial y recintos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E293B"/>
                </a:solidFill>
              </a:rPr>
              <a:t>EP-03: Inspección ECI en terreno (Fichas)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E293B"/>
                </a:solidFill>
              </a:rPr>
              <a:t>EP-04: Evidencias y georreferenciación GPS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E293B"/>
                </a:solidFill>
              </a:rPr>
              <a:t>EP-05: Cálculo del ICI y priorización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E293B"/>
                </a:solidFill>
              </a:rPr>
              <a:t>EP-06: Funcionamiento Offline y Sinc.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E293B"/>
                </a:solidFill>
              </a:rPr>
              <a:t>EP-07: Historial clínico y trazabilidad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E293B"/>
                </a:solidFill>
              </a:rPr>
              <a:t>EP-08: Visor de mapas y dashboards web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500">
              <a:solidFill>
                <a:srgbClr val="002147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389125" y="1645925"/>
            <a:ext cx="3291900" cy="2218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</a:rPr>
              <a:t>SHOULD HAVE (EP-09)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E293B"/>
                </a:solidFill>
              </a:rPr>
              <a:t>EP-09: Reportes, documentos y alertas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200">
                <a:solidFill>
                  <a:srgbClr val="1E293B"/>
                </a:solidFill>
              </a:rPr>
              <a:t>Generación de informes PDF oficiales.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200">
                <a:solidFill>
                  <a:srgbClr val="1E293B"/>
                </a:solidFill>
              </a:rPr>
              <a:t>Almacenamiento de planos de recintos.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200">
                <a:solidFill>
                  <a:srgbClr val="1E293B"/>
                </a:solidFill>
              </a:rPr>
              <a:t>Validación profesional del supervisor.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200">
                <a:solidFill>
                  <a:srgbClr val="1E293B"/>
                </a:solidFill>
              </a:rPr>
              <a:t>Alertas ante infraestructura crítica.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500">
              <a:solidFill>
                <a:srgbClr val="002147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8046725" y="1645925"/>
            <a:ext cx="3291900" cy="268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rgbClr val="00214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rgbClr val="00214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rgbClr val="00214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2147"/>
                </a:solidFill>
              </a:rPr>
              <a:t>COULD HAVE (EP-10)</a:t>
            </a:r>
            <a:endParaRPr b="1">
              <a:solidFill>
                <a:srgbClr val="00214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</a:rPr>
              <a:t>EP-10: IA y automatización auxiliar</a:t>
            </a:r>
            <a:endParaRPr b="1"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200">
                <a:solidFill>
                  <a:srgbClr val="1E293B"/>
                </a:solidFill>
              </a:rPr>
              <a:t>Redes neuronales de apoyo al diagnóstico.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200">
                <a:solidFill>
                  <a:srgbClr val="1E293B"/>
                </a:solidFill>
              </a:rPr>
              <a:t>Integración auxiliar con n8n.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200">
                <a:solidFill>
                  <a:srgbClr val="1E293B"/>
                </a:solidFill>
              </a:rPr>
              <a:t>Servicios completamente desacoplados.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 </a:t>
            </a:r>
            <a:r>
              <a:rPr lang="en-US" sz="1200">
                <a:solidFill>
                  <a:srgbClr val="1E293B"/>
                </a:solidFill>
              </a:rPr>
              <a:t>Sin alteración del cálculo oficial del ICI.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500">
              <a:solidFill>
                <a:srgbClr val="002147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</p:txBody>
      </p:sp>
      <p:pic>
        <p:nvPicPr>
          <p:cNvPr id="141" name="Google Shape;141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1463" y="3998425"/>
            <a:ext cx="2689075" cy="26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/>
        </p:nvSpPr>
        <p:spPr>
          <a:xfrm>
            <a:off x="457200" y="320040"/>
            <a:ext cx="91440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Fundamentación Proyecto APT: Arquitectura y Ajustes</a:t>
            </a:r>
            <a:r>
              <a:rPr lang="en-US" sz="11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57200" y="1156348"/>
            <a:ext cx="11277300" cy="19200"/>
          </a:xfrm>
          <a:prstGeom prst="rect">
            <a:avLst/>
          </a:prstGeom>
          <a:solidFill>
            <a:srgbClr val="0073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78200" y="1605155"/>
            <a:ext cx="4846200" cy="310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2"/>
                </a:solidFill>
              </a:rPr>
              <a:t>ARQUITECTURA DE SOFTWARE BASE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</a:t>
            </a:r>
            <a:r>
              <a:rPr b="1" lang="en-US" sz="1300">
                <a:solidFill>
                  <a:srgbClr val="1E293B"/>
                </a:solidFill>
              </a:rPr>
              <a:t>HTTPS/REST API: </a:t>
            </a:r>
            <a:r>
              <a:rPr lang="en-US" sz="1200">
                <a:solidFill>
                  <a:srgbClr val="1E293B"/>
                </a:solidFill>
              </a:rPr>
              <a:t>NestJS centraliza la lógica, seguridad y accesos del sistema.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</a:t>
            </a:r>
            <a:r>
              <a:rPr b="1" lang="en-US" sz="1300">
                <a:solidFill>
                  <a:srgbClr val="1E293B"/>
                </a:solidFill>
              </a:rPr>
              <a:t>Acceso Indirecto: </a:t>
            </a:r>
            <a:r>
              <a:rPr lang="en-US" sz="1200">
                <a:solidFill>
                  <a:srgbClr val="1E293B"/>
                </a:solidFill>
              </a:rPr>
              <a:t>Frontends móvil y web consumen exclusivamente la API central.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</a:t>
            </a:r>
            <a:r>
              <a:rPr b="1" lang="en-US" sz="1300">
                <a:solidFill>
                  <a:srgbClr val="1E293B"/>
                </a:solidFill>
              </a:rPr>
              <a:t>Persistencia Segura: </a:t>
            </a:r>
            <a:r>
              <a:rPr lang="en-US" sz="1200">
                <a:solidFill>
                  <a:srgbClr val="1E293B"/>
                </a:solidFill>
              </a:rPr>
              <a:t>Base de datos PostgreSQL en Supabase y Object Storage S3.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</a:t>
            </a:r>
            <a:r>
              <a:rPr b="1" lang="en-US" sz="1300">
                <a:solidFill>
                  <a:srgbClr val="1E293B"/>
                </a:solidFill>
              </a:rPr>
              <a:t>Servicios Auxiliares: </a:t>
            </a:r>
            <a:r>
              <a:rPr lang="en-US" sz="1200">
                <a:solidFill>
                  <a:srgbClr val="1E293B"/>
                </a:solidFill>
              </a:rPr>
              <a:t>Microservicio IA Python y n8n operan de forma desacoplada.</a:t>
            </a:r>
            <a:endParaRPr sz="1200">
              <a:solidFill>
                <a:srgbClr val="1E293B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400800" y="1605150"/>
            <a:ext cx="4846200" cy="361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rgbClr val="DC262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2"/>
                </a:solidFill>
              </a:rPr>
              <a:t>AJUSTES POR FEEDBACK TÉCNICO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</a:t>
            </a:r>
            <a:r>
              <a:rPr b="1" lang="en-US" sz="1300">
                <a:solidFill>
                  <a:srgbClr val="1E293B"/>
                </a:solidFill>
              </a:rPr>
              <a:t>Actores Claros: </a:t>
            </a:r>
            <a:r>
              <a:rPr lang="en-US" sz="1200">
                <a:solidFill>
                  <a:srgbClr val="1E293B"/>
                </a:solidFill>
              </a:rPr>
              <a:t>Eliminación del rol genérico 'Arquitecto'. Separación estricta de perfiles (Inspector en Móvil, Supervisor en Web).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</a:t>
            </a:r>
            <a:r>
              <a:rPr b="1" lang="en-US" sz="1300">
                <a:solidFill>
                  <a:srgbClr val="1E293B"/>
                </a:solidFill>
              </a:rPr>
              <a:t>Visor Cartográfico: </a:t>
            </a:r>
            <a:r>
              <a:rPr lang="en-US" sz="1200">
                <a:solidFill>
                  <a:srgbClr val="1E293B"/>
                </a:solidFill>
              </a:rPr>
              <a:t>MapLibre GL definido como visor nacional. Cálculo de rutas externas se mantiene como integración opcional.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</a:t>
            </a:r>
            <a:r>
              <a:rPr b="1" lang="en-US" sz="1300">
                <a:solidFill>
                  <a:srgbClr val="1E293B"/>
                </a:solidFill>
              </a:rPr>
              <a:t>Entorno Backend: </a:t>
            </a:r>
            <a:r>
              <a:rPr lang="en-US" sz="1200">
                <a:solidFill>
                  <a:srgbClr val="1E293B"/>
                </a:solidFill>
              </a:rPr>
              <a:t>Hosting backend renombrado a 'Entorno de ejecución / Compute' dejando el proveedor en estado 'por definir'.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</a:t>
            </a:r>
            <a:r>
              <a:rPr b="1" lang="en-US" sz="1300">
                <a:solidFill>
                  <a:srgbClr val="1E293B"/>
                </a:solidFill>
              </a:rPr>
              <a:t>Repositorio y CI/CD: </a:t>
            </a:r>
            <a:r>
              <a:rPr lang="en-US" sz="1200">
                <a:solidFill>
                  <a:srgbClr val="1E293B"/>
                </a:solidFill>
              </a:rPr>
              <a:t>Compilación y despliegue integrado de forma conceptual, con mecanismo final abierto para validaciones del MOP.</a:t>
            </a:r>
            <a:endParaRPr sz="1200">
              <a:solidFill>
                <a:srgbClr val="1E293B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</p:txBody>
      </p:sp>
      <p:pic>
        <p:nvPicPr>
          <p:cNvPr descr="File:Logo DuocUC.svg - Wikipedia" id="151" name="Google Shape;1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4197" y="230374"/>
            <a:ext cx="1852580" cy="455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0775" y="4866450"/>
            <a:ext cx="3001050" cy="18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g3f9be15f4c8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6750" y="1084600"/>
            <a:ext cx="7713099" cy="5439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Logo DuocUC.svg - Wikipedia" id="159" name="Google Shape;159;g3f9be15f4c8_2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34622" y="292899"/>
            <a:ext cx="1852579" cy="455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 txBox="1"/>
          <p:nvPr/>
        </p:nvSpPr>
        <p:spPr>
          <a:xfrm>
            <a:off x="457200" y="320040"/>
            <a:ext cx="91440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Fundamentación Proyecto APT: Factibilidad de Desarrollo</a:t>
            </a:r>
            <a:r>
              <a:rPr lang="en-US" sz="11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57350" y="1228160"/>
            <a:ext cx="11277300" cy="19200"/>
          </a:xfrm>
          <a:prstGeom prst="rect">
            <a:avLst/>
          </a:prstGeom>
          <a:solidFill>
            <a:srgbClr val="0073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914400" y="1645925"/>
            <a:ext cx="4846200" cy="3050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2"/>
                </a:solidFill>
              </a:rPr>
              <a:t>ANÁLISIS DE FACTIBILIDAD Y RECURSOS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Tiempo Acordado: </a:t>
            </a:r>
            <a:r>
              <a:rPr lang="en-US" sz="1300">
                <a:solidFill>
                  <a:srgbClr val="1E293B"/>
                </a:solidFill>
              </a:rPr>
              <a:t>Plazo estricto de 18 semanas de desarrollo desde el 10 de agosto de 2026.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Equipo Técnico: </a:t>
            </a:r>
            <a:r>
              <a:rPr lang="en-US" sz="1300">
                <a:solidFill>
                  <a:srgbClr val="1E293B"/>
                </a:solidFill>
              </a:rPr>
              <a:t>Conformado por 4 estudiantes de Ingeniería en Informática con roles balanceados.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Herramientas Libres: </a:t>
            </a:r>
            <a:r>
              <a:rPr lang="en-US" sz="1300">
                <a:solidFill>
                  <a:srgbClr val="1E293B"/>
                </a:solidFill>
              </a:rPr>
              <a:t>Uso de entornos de desarrollo, frameworks y bases de datos con planes gratuitos.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Facilitadores Clave: </a:t>
            </a:r>
            <a:r>
              <a:rPr lang="en-US" sz="1300">
                <a:solidFill>
                  <a:srgbClr val="1E293B"/>
                </a:solidFill>
              </a:rPr>
              <a:t>Contacto directo con contraparte real del MOP para levantamientos periódicos.</a:t>
            </a:r>
            <a:endParaRPr sz="1300">
              <a:solidFill>
                <a:srgbClr val="1E293B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400800" y="1645924"/>
            <a:ext cx="4846200" cy="3647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2"/>
                </a:solidFill>
              </a:rPr>
              <a:t>RIESGOS TÉCNICOS Y MITIGACIONES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Conectividad en Terreno: </a:t>
            </a:r>
            <a:r>
              <a:rPr lang="en-US" sz="1300">
                <a:solidFill>
                  <a:srgbClr val="1E293B"/>
                </a:solidFill>
              </a:rPr>
              <a:t>Mitigado mediante persistencia local en SQLite (Móvil) y sincronización asíncrona posterior.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Cambios de Requerimientos: </a:t>
            </a:r>
            <a:r>
              <a:rPr lang="en-US" sz="1300">
                <a:solidFill>
                  <a:srgbClr val="1E293B"/>
                </a:solidFill>
              </a:rPr>
              <a:t>Mitigado mediante priorización ágil con Kanban, actas firmadas y control de cambios.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Volumen de Imágenes: </a:t>
            </a:r>
            <a:r>
              <a:rPr lang="en-US" sz="1300">
                <a:solidFill>
                  <a:srgbClr val="1E293B"/>
                </a:solidFill>
              </a:rPr>
              <a:t>Mitigado con un algoritmo de pre-compresión de fotos en el dispositivo cliente.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Seguridad del MOP: </a:t>
            </a:r>
            <a:r>
              <a:rPr lang="en-US" sz="1300">
                <a:solidFill>
                  <a:srgbClr val="1E293B"/>
                </a:solidFill>
              </a:rPr>
              <a:t>Mitigado aislando las credenciales y encapsulando servicios de despliegue mediante Docker.</a:t>
            </a:r>
            <a:endParaRPr sz="1300">
              <a:solidFill>
                <a:srgbClr val="1E293B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</p:txBody>
      </p:sp>
      <p:pic>
        <p:nvPicPr>
          <p:cNvPr descr="File:Logo DuocUC.svg - Wikipedia" id="169" name="Google Shape;1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4197" y="230374"/>
            <a:ext cx="1852580" cy="455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387" y="4849050"/>
            <a:ext cx="1856575" cy="185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4037" y="4849050"/>
            <a:ext cx="1856573" cy="1856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/>
          <p:nvPr/>
        </p:nvSpPr>
        <p:spPr>
          <a:xfrm>
            <a:off x="746825" y="1367000"/>
            <a:ext cx="10603800" cy="118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783025" y="1051550"/>
            <a:ext cx="10446000" cy="14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</a:rPr>
              <a:t>OBJETIVO GENERAL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Diseñar, desarrollar y validar una solución informática modular que permita digitalizar, centralizar y facilitar la gestión y trazabilidad de la información asociada al proceso de diagnóstico y evaluación de la condición de la infraestructura institucional de la Dirección de Vialidad del Ministerio de Obras Públicas, mediante un desarrollo incremental y validaciones periódicas con sus usuarios y partes interesadas.</a:t>
            </a:r>
            <a:endParaRPr b="1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457200" y="320040"/>
            <a:ext cx="914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Objetivos</a:t>
            </a:r>
            <a:r>
              <a:rPr lang="en-US" sz="11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57200" y="1051560"/>
            <a:ext cx="11277295" cy="19050"/>
          </a:xfrm>
          <a:prstGeom prst="rect">
            <a:avLst/>
          </a:prstGeom>
          <a:solidFill>
            <a:srgbClr val="0073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878225" y="2846900"/>
            <a:ext cx="4157100" cy="2786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</a:rPr>
              <a:t>DISEÑO Y CONSTRUCCIÓN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lang="en-US" sz="1100">
                <a:solidFill>
                  <a:srgbClr val="1E293B"/>
                </a:solidFill>
              </a:rPr>
              <a:t>Estructurar y documentar la matriz de requerimientos y especificación técnica, integrando historias de usuario, modelo de datos y perfiles validados.</a:t>
            </a:r>
            <a:endParaRPr sz="11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lang="en-US" sz="1100">
                <a:solidFill>
                  <a:srgbClr val="1E293B"/>
                </a:solidFill>
              </a:rPr>
              <a:t>Diseñar la arquitectura, modelo de datos y experiencia de usuario acorde a las prioridades.</a:t>
            </a:r>
            <a:endParaRPr sz="11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lang="en-US" sz="1100">
                <a:solidFill>
                  <a:srgbClr val="1E293B"/>
                </a:solidFill>
              </a:rPr>
              <a:t>Desarrollar e integrar el Producto Incremental Funcional (autenticación, mapa, ficha digital, cálculo de ICI, hoja de vida y evidencias).</a:t>
            </a:r>
            <a:endParaRPr sz="1100">
              <a:solidFill>
                <a:srgbClr val="1E293B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7071925" y="2805150"/>
            <a:ext cx="4157100" cy="2786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</a:rPr>
              <a:t>CALIDAD, VALIDACIÓN Y ENTREGA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lang="en-US" sz="1100">
                <a:solidFill>
                  <a:srgbClr val="1E293B"/>
                </a:solidFill>
              </a:rPr>
              <a:t>Diseñar y ejecutar pruebas funcionales, de integración, seguridad y usabilidad, corrigiendo las incidencias.</a:t>
            </a:r>
            <a:endParaRPr sz="11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lang="en-US" sz="1100">
                <a:solidFill>
                  <a:srgbClr val="1E293B"/>
                </a:solidFill>
              </a:rPr>
              <a:t>Entregar a la contraparte del MOP una solución informática validada que cumpla con los criterios de calidad.</a:t>
            </a:r>
            <a:endParaRPr sz="11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lang="en-US" sz="1100">
                <a:solidFill>
                  <a:srgbClr val="1E293B"/>
                </a:solidFill>
              </a:rPr>
              <a:t>Documentar técnicamente la solución, su despliegue mediante Docker, uso y decisiones de diseño.</a:t>
            </a:r>
            <a:endParaRPr sz="1100">
              <a:solidFill>
                <a:srgbClr val="1E293B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</p:txBody>
      </p:sp>
      <p:pic>
        <p:nvPicPr>
          <p:cNvPr descr="File:Logo DuocUC.svg - Wikipedia" id="183" name="Google Shape;1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4197" y="230374"/>
            <a:ext cx="1852580" cy="455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7725" y="3227825"/>
            <a:ext cx="1731800" cy="195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/>
          <p:nvPr/>
        </p:nvSpPr>
        <p:spPr>
          <a:xfrm>
            <a:off x="457200" y="320040"/>
            <a:ext cx="914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2147"/>
                </a:solidFill>
                <a:latin typeface="Georgia"/>
                <a:ea typeface="Georgia"/>
                <a:cs typeface="Georgia"/>
                <a:sym typeface="Georgia"/>
              </a:rPr>
              <a:t>Metodología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457200" y="797060"/>
            <a:ext cx="11277300" cy="19200"/>
          </a:xfrm>
          <a:prstGeom prst="rect">
            <a:avLst/>
          </a:prstGeom>
          <a:solidFill>
            <a:srgbClr val="0073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:Logo DuocUC.svg - Wikipedia" id="192" name="Google Shape;1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4197" y="230374"/>
            <a:ext cx="1852580" cy="45542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9"/>
          <p:cNvSpPr/>
          <p:nvPr/>
        </p:nvSpPr>
        <p:spPr>
          <a:xfrm>
            <a:off x="878225" y="1167975"/>
            <a:ext cx="4846200" cy="3474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rgbClr val="00214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rgbClr val="00214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2"/>
                </a:solidFill>
              </a:rPr>
              <a:t>MARCO DE TRABAJO KANBAN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Visualización del Flujo: </a:t>
            </a:r>
            <a:r>
              <a:rPr lang="en-US" sz="1300">
                <a:solidFill>
                  <a:srgbClr val="1E293B"/>
                </a:solidFill>
              </a:rPr>
              <a:t>Uso de tablero digital con políticas explícitas y límites de trabajo en progreso (WIP).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Desarrollo Incremental: </a:t>
            </a:r>
            <a:r>
              <a:rPr lang="en-US" sz="1300">
                <a:solidFill>
                  <a:srgbClr val="1E293B"/>
                </a:solidFill>
              </a:rPr>
              <a:t>Planificación, construcción y pruebas continuas por cada módulo de épica.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Validación Técnica: </a:t>
            </a:r>
            <a:r>
              <a:rPr lang="en-US" sz="1300">
                <a:solidFill>
                  <a:srgbClr val="1E293B"/>
                </a:solidFill>
              </a:rPr>
              <a:t>Control de cambios riguroso mediante revisiones de código y Pull Requests en GitHub.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Trazabilidad con el MOP: </a:t>
            </a:r>
            <a:r>
              <a:rPr lang="en-US" sz="1300">
                <a:solidFill>
                  <a:srgbClr val="1E293B"/>
                </a:solidFill>
              </a:rPr>
              <a:t>Reuniones de validación periódicas y acuerdos formalizados en actas escritas.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346625" y="1167975"/>
            <a:ext cx="4846200" cy="3474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rgbClr val="00214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rgbClr val="00214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rgbClr val="00214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2"/>
                </a:solidFill>
              </a:rPr>
              <a:t>ROLES Y RESPONSABILIDADES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</a:t>
            </a:r>
            <a:r>
              <a:rPr b="1" lang="en-US" sz="1300">
                <a:solidFill>
                  <a:srgbClr val="1E293B"/>
                </a:solidFill>
              </a:rPr>
              <a:t>Hugo Rubilar (Líder / PO): </a:t>
            </a:r>
            <a:r>
              <a:rPr lang="en-US" sz="1200">
                <a:solidFill>
                  <a:srgbClr val="1E293B"/>
                </a:solidFill>
              </a:rPr>
              <a:t>Gestión de stakeholders, priorización, control del backlog. Programación del formulario base y geolocalización.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</a:t>
            </a:r>
            <a:r>
              <a:rPr b="1" lang="en-US" sz="1300">
                <a:solidFill>
                  <a:srgbClr val="1E293B"/>
                </a:solidFill>
              </a:rPr>
              <a:t>Mario Demartini (Dev Web): </a:t>
            </a:r>
            <a:r>
              <a:rPr lang="en-US" sz="1200">
                <a:solidFill>
                  <a:srgbClr val="1E293B"/>
                </a:solidFill>
              </a:rPr>
              <a:t>Plataforma web, visualización del mapa nacional, automatizaciones con n8n, pruebas integradas.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</a:t>
            </a:r>
            <a:r>
              <a:rPr b="1" lang="en-US" sz="1300">
                <a:solidFill>
                  <a:srgbClr val="1E293B"/>
                </a:solidFill>
              </a:rPr>
              <a:t>Jaime Maureira (Dev Mobile): </a:t>
            </a:r>
            <a:r>
              <a:rPr lang="en-US" sz="1200">
                <a:solidFill>
                  <a:srgbClr val="1E293B"/>
                </a:solidFill>
              </a:rPr>
              <a:t>Desarrollo móvil, autenticación, almacenamiento fotográfico local y sincronización idempotente.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0066CC"/>
                </a:solidFill>
              </a:rPr>
              <a:t>• </a:t>
            </a:r>
            <a:r>
              <a:rPr b="1" lang="en-US" sz="1300">
                <a:solidFill>
                  <a:srgbClr val="1E293B"/>
                </a:solidFill>
              </a:rPr>
              <a:t>Francisco Ormeño (Dev Web/IA): </a:t>
            </a:r>
            <a:r>
              <a:rPr lang="en-US" sz="1200">
                <a:solidFill>
                  <a:srgbClr val="1E293B"/>
                </a:solidFill>
              </a:rPr>
              <a:t>Estructuración web base, dashboard, listados y apoyo técnico en el servicio de IA desacoplado.</a:t>
            </a:r>
            <a:endParaRPr sz="12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</p:txBody>
      </p:sp>
      <p:pic>
        <p:nvPicPr>
          <p:cNvPr id="195" name="Google Shape;19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1013" y="4740400"/>
            <a:ext cx="2000620" cy="1910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270" y="4740400"/>
            <a:ext cx="1910925" cy="191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414be9977_0_37"/>
          <p:cNvSpPr txBox="1"/>
          <p:nvPr/>
        </p:nvSpPr>
        <p:spPr>
          <a:xfrm>
            <a:off x="457200" y="320040"/>
            <a:ext cx="914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Evidencias</a:t>
            </a:r>
            <a:r>
              <a:rPr lang="en-US" sz="11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3" name="Google Shape;203;g3f414be9977_0_37"/>
          <p:cNvSpPr/>
          <p:nvPr/>
        </p:nvSpPr>
        <p:spPr>
          <a:xfrm>
            <a:off x="457200" y="797060"/>
            <a:ext cx="11277300" cy="19200"/>
          </a:xfrm>
          <a:prstGeom prst="rect">
            <a:avLst/>
          </a:prstGeom>
          <a:solidFill>
            <a:srgbClr val="0073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:Logo DuocUC.svg - Wikipedia" id="204" name="Google Shape;204;g3f414be9977_0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4197" y="230374"/>
            <a:ext cx="1852579" cy="45542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f414be9977_0_37"/>
          <p:cNvSpPr/>
          <p:nvPr/>
        </p:nvSpPr>
        <p:spPr>
          <a:xfrm>
            <a:off x="878225" y="1167975"/>
            <a:ext cx="4846200" cy="3655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rgbClr val="00214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rgbClr val="00214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rgbClr val="00214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600">
                <a:solidFill>
                  <a:schemeClr val="dk2"/>
                </a:solidFill>
              </a:rPr>
              <a:t>EVIDENCIAS DE AVANCE (INFORME)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Actas y Requerimientos: </a:t>
            </a:r>
            <a:r>
              <a:rPr lang="en-US" sz="1300">
                <a:solidFill>
                  <a:srgbClr val="1E293B"/>
                </a:solidFill>
              </a:rPr>
              <a:t>Registro firmado de reuniones con el MOP, decisiones, pendientes y mapeo hacia historias de usuario.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Tablero Kanban: </a:t>
            </a:r>
            <a:r>
              <a:rPr lang="en-US" sz="1300">
                <a:solidFill>
                  <a:srgbClr val="1E293B"/>
                </a:solidFill>
              </a:rPr>
              <a:t>Trazabilidad completa con historias de usuario, prioridades, límites WIP y métricas de flujo.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Repositorio Git: </a:t>
            </a:r>
            <a:r>
              <a:rPr lang="en-US" sz="1300">
                <a:solidFill>
                  <a:srgbClr val="1E293B"/>
                </a:solidFill>
              </a:rPr>
              <a:t>Historial de commits, control de ramas, modelo relacional y documentación técnica inicial.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Prototipos Parciales: </a:t>
            </a:r>
            <a:r>
              <a:rPr lang="en-US" sz="1300">
                <a:solidFill>
                  <a:srgbClr val="1E293B"/>
                </a:solidFill>
              </a:rPr>
              <a:t>Demostraciones visuales y capturas funcionales de los módulos validados por la contraparte.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rgbClr val="00214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</p:txBody>
      </p:sp>
      <p:sp>
        <p:nvSpPr>
          <p:cNvPr id="206" name="Google Shape;206;g3f414be9977_0_37"/>
          <p:cNvSpPr/>
          <p:nvPr/>
        </p:nvSpPr>
        <p:spPr>
          <a:xfrm>
            <a:off x="6346625" y="1167975"/>
            <a:ext cx="4846200" cy="3655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rgbClr val="00214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rgbClr val="00214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rgbClr val="00214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rgbClr val="00214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600">
                <a:solidFill>
                  <a:schemeClr val="dk2"/>
                </a:solidFill>
              </a:rPr>
              <a:t>EVIDENCIAS FINALES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Software SIGIOP-MOP: </a:t>
            </a:r>
            <a:r>
              <a:rPr lang="en-US" sz="1300">
                <a:solidFill>
                  <a:srgbClr val="1E293B"/>
                </a:solidFill>
              </a:rPr>
              <a:t>Producto Incremental Funcional estable: visor de mapas, cálculo de ICI, fotos offline y hoja de vida.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Registro de Pruebas: </a:t>
            </a:r>
            <a:r>
              <a:rPr lang="en-US" sz="1300">
                <a:solidFill>
                  <a:srgbClr val="1E293B"/>
                </a:solidFill>
              </a:rPr>
              <a:t>Bitácora detallada de pruebas de funcionalidad, integración, seguridad y usabilidad con usuarios.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Manuales de Operación: </a:t>
            </a:r>
            <a:r>
              <a:rPr lang="en-US" sz="1300">
                <a:solidFill>
                  <a:srgbClr val="1E293B"/>
                </a:solidFill>
              </a:rPr>
              <a:t>Documentación técnica de arquitectura, modelo físico, manual de usuario detallado.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rgbClr val="0066CC"/>
                </a:solidFill>
              </a:rPr>
              <a:t>• </a:t>
            </a:r>
            <a:r>
              <a:rPr b="1" lang="en-US">
                <a:solidFill>
                  <a:srgbClr val="1E293B"/>
                </a:solidFill>
              </a:rPr>
              <a:t>Guía de Despliegue: </a:t>
            </a:r>
            <a:r>
              <a:rPr lang="en-US" sz="1300">
                <a:solidFill>
                  <a:srgbClr val="1E293B"/>
                </a:solidFill>
              </a:rPr>
              <a:t>Configuración estructurada en contenedores Docker para garantizar portabilidad.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rgbClr val="00214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</p:txBody>
      </p:sp>
      <p:pic>
        <p:nvPicPr>
          <p:cNvPr id="207" name="Google Shape;207;g3f414be9977_0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6313" y="4975575"/>
            <a:ext cx="1730025" cy="173002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pic>
        <p:nvPicPr>
          <p:cNvPr id="208" name="Google Shape;208;g3f414be9977_0_37"/>
          <p:cNvPicPr preferRelativeResize="0"/>
          <p:nvPr/>
        </p:nvPicPr>
        <p:blipFill rotWithShape="1">
          <a:blip r:embed="rId5">
            <a:alphaModFix/>
          </a:blip>
          <a:srcRect b="15726" l="0" r="0" t="0"/>
          <a:stretch/>
        </p:blipFill>
        <p:spPr>
          <a:xfrm>
            <a:off x="7904713" y="5111575"/>
            <a:ext cx="1730027" cy="145802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414be9977_0_49"/>
          <p:cNvSpPr txBox="1"/>
          <p:nvPr/>
        </p:nvSpPr>
        <p:spPr>
          <a:xfrm>
            <a:off x="457200" y="208790"/>
            <a:ext cx="914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Plan de Trabajo</a:t>
            </a:r>
            <a:r>
              <a:rPr lang="en-US" sz="11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15" name="Google Shape;215;g3f414be9977_0_49"/>
          <p:cNvSpPr/>
          <p:nvPr/>
        </p:nvSpPr>
        <p:spPr>
          <a:xfrm>
            <a:off x="457350" y="685810"/>
            <a:ext cx="11277300" cy="19200"/>
          </a:xfrm>
          <a:prstGeom prst="rect">
            <a:avLst/>
          </a:prstGeom>
          <a:solidFill>
            <a:srgbClr val="0073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:Logo DuocUC.svg - Wikipedia" id="216" name="Google Shape;216;g3f414be9977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4197" y="103699"/>
            <a:ext cx="1852579" cy="45542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f414be9977_0_49"/>
          <p:cNvSpPr/>
          <p:nvPr/>
        </p:nvSpPr>
        <p:spPr>
          <a:xfrm>
            <a:off x="823650" y="1322975"/>
            <a:ext cx="10544700" cy="1033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rgbClr val="0066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rgbClr val="0066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</a:rPr>
              <a:t>Fase 1: Levantamiento y Alcance (Semanas 1-4)</a:t>
            </a:r>
            <a:r>
              <a:rPr b="1" lang="en-US">
                <a:solidFill>
                  <a:srgbClr val="0066CC"/>
                </a:solidFill>
              </a:rPr>
              <a:t>  </a:t>
            </a:r>
            <a:r>
              <a:rPr lang="en-US" sz="1300">
                <a:solidFill>
                  <a:srgbClr val="1E293B"/>
                </a:solidFill>
              </a:rPr>
              <a:t>Reuniones de diagnóstico con la contraparte del MOP. Consolidación de la visión y priorización del Product Backlog en Kanban.</a:t>
            </a:r>
            <a:endParaRPr sz="1300">
              <a:solidFill>
                <a:srgbClr val="1E293B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</p:txBody>
      </p:sp>
      <p:sp>
        <p:nvSpPr>
          <p:cNvPr id="218" name="Google Shape;218;g3f414be9977_0_49"/>
          <p:cNvSpPr/>
          <p:nvPr/>
        </p:nvSpPr>
        <p:spPr>
          <a:xfrm>
            <a:off x="823650" y="2559650"/>
            <a:ext cx="10544700" cy="1033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rgbClr val="0066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rgbClr val="0066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</a:rPr>
              <a:t>Fase 2: Diseño de Arquitectura (Semanas 3-5) </a:t>
            </a:r>
            <a:r>
              <a:rPr b="1" lang="en-US">
                <a:solidFill>
                  <a:srgbClr val="0066CC"/>
                </a:solidFill>
              </a:rPr>
              <a:t> </a:t>
            </a:r>
            <a:r>
              <a:rPr lang="en-US" sz="1300">
                <a:solidFill>
                  <a:srgbClr val="1E293B"/>
                </a:solidFill>
              </a:rPr>
              <a:t>Definición del modelo relacional PostgreSQL, modelamiento de base de datos relacional y diseño de flujos REST en NestJS.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</p:txBody>
      </p:sp>
      <p:sp>
        <p:nvSpPr>
          <p:cNvPr id="219" name="Google Shape;219;g3f414be9977_0_49"/>
          <p:cNvSpPr/>
          <p:nvPr/>
        </p:nvSpPr>
        <p:spPr>
          <a:xfrm>
            <a:off x="823650" y="3863275"/>
            <a:ext cx="10544700" cy="1033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rgbClr val="0066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</a:rPr>
              <a:t>Fase 3: Construcción e Integración (Semanas 5-13) </a:t>
            </a:r>
            <a:r>
              <a:rPr b="1" lang="en-US">
                <a:solidFill>
                  <a:srgbClr val="0066CC"/>
                </a:solidFill>
              </a:rPr>
              <a:t> </a:t>
            </a:r>
            <a:r>
              <a:rPr lang="en-US" sz="1300">
                <a:solidFill>
                  <a:srgbClr val="1E293B"/>
                </a:solidFill>
              </a:rPr>
              <a:t>Desarrollo del Producto Incremental Funcional: App móvil (SQLite, GPS) y Plataforma web (visores, reportes, microservicio de IA).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</p:txBody>
      </p:sp>
      <p:sp>
        <p:nvSpPr>
          <p:cNvPr id="220" name="Google Shape;220;g3f414be9977_0_49"/>
          <p:cNvSpPr/>
          <p:nvPr/>
        </p:nvSpPr>
        <p:spPr>
          <a:xfrm>
            <a:off x="823650" y="5166900"/>
            <a:ext cx="10544700" cy="1033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2F6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rgbClr val="0066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rgbClr val="0066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2"/>
                </a:solidFill>
              </a:rPr>
              <a:t>Fase 4: Calidad, Estabilización y Defensa (Semanas 12-18)  </a:t>
            </a:r>
            <a:r>
              <a:rPr lang="en-US" sz="1300">
                <a:solidFill>
                  <a:srgbClr val="1E293B"/>
                </a:solidFill>
              </a:rPr>
              <a:t>Ejecución de pruebas continuas, corrección de incidencias, validación periódica con usuarios, manuales y defensa Capstone.</a:t>
            </a:r>
            <a:endParaRPr sz="1300">
              <a:solidFill>
                <a:srgbClr val="1E293B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F6C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414be9977_0_69"/>
          <p:cNvSpPr txBox="1"/>
          <p:nvPr/>
        </p:nvSpPr>
        <p:spPr>
          <a:xfrm>
            <a:off x="457200" y="320040"/>
            <a:ext cx="914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Carta Gantt</a:t>
            </a:r>
            <a:r>
              <a:rPr lang="en-US" sz="11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27" name="Google Shape;227;g3f414be9977_0_69"/>
          <p:cNvSpPr/>
          <p:nvPr/>
        </p:nvSpPr>
        <p:spPr>
          <a:xfrm>
            <a:off x="457200" y="797060"/>
            <a:ext cx="11277300" cy="19200"/>
          </a:xfrm>
          <a:prstGeom prst="rect">
            <a:avLst/>
          </a:prstGeom>
          <a:solidFill>
            <a:srgbClr val="0073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:Logo DuocUC.svg - Wikipedia" id="228" name="Google Shape;228;g3f414be9977_0_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4197" y="230374"/>
            <a:ext cx="1852579" cy="4554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9" name="Google Shape;229;g3f414be9977_0_69"/>
          <p:cNvGraphicFramePr/>
          <p:nvPr/>
        </p:nvGraphicFramePr>
        <p:xfrm>
          <a:off x="566738" y="116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{ECC68393-4673-4EA1-996D-A83A5A3FC531}</a:tableStyleId>
              </a:tblPr>
              <a:tblGrid>
                <a:gridCol w="4559450"/>
                <a:gridCol w="2395150"/>
                <a:gridCol w="4213150"/>
              </a:tblGrid>
              <a:tr h="566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</a:rPr>
                        <a:t>Actividad / Hito Principal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4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</a:rPr>
                        <a:t>Plazo Estimado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4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</a:rPr>
                        <a:t>Responsables de Ejecución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4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66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Levantar y validar requerimientos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4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Semanas 1-3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4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Todo el equipo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4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Consolidar y priorizar el alcance (Kanban)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Semanas 2-4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Todo el equipo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66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Diseño de solución (Arquitectura y Datos)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Semanas 3-5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Todo el equipo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Construcción del Producto Incremental Funcional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Semanas 5-13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Todo el equipo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66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Diseño y ejecución de pruebas de software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Semanas 6-14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Todo el equipo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Validación periódica incremental con el MOP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Semanas 5-15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Todo el equipo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66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Estabilización de software y manuales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Semanas 12-16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Todo el equipo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Preparación del cierre técnico y defensa final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Semanas 15-18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Todo el equipo</a:t>
                      </a:r>
                      <a:endParaRPr sz="12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